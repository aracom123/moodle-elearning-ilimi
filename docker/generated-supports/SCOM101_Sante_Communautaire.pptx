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46cb7f17f8415c" /><Relationship Type="http://schemas.openxmlformats.org/officeDocument/2006/relationships/extended-properties" Target="/docProps/app.xml" Id="R94d474a23cea4323" /><Relationship Type="http://schemas.openxmlformats.org/officeDocument/2006/relationships/officeDocument" Target="/ppt/presentation.xml" Id="R184171269715424e" /></Relationships>
</file>

<file path=ppt/presentation.xml><?xml version="1.0" encoding="utf-8"?>
<p:presentation xmlns:p="http://schemas.openxmlformats.org/presentationml/2006/main">
  <p:sldMasterIdLst>
    <p:sldMasterId xmlns:r="http://schemas.openxmlformats.org/officeDocument/2006/relationships" id="2147483648" r:id="R207b2795a5e14fb1"/>
  </p:sldMasterIdLst>
  <p:notesMasterIdLst>
    <p:notesMasterId xmlns:r="http://schemas.openxmlformats.org/officeDocument/2006/relationships" r:id="R4fc756de1a9a4356"/>
  </p:notesMasterIdLst>
  <p:sldIdLst>
    <p:sldId xmlns:r="http://schemas.openxmlformats.org/officeDocument/2006/relationships" id="256" r:id="Rd0d51c2259eb4f22"/>
    <p:sldId xmlns:r="http://schemas.openxmlformats.org/officeDocument/2006/relationships" id="257" r:id="R7f4013ef1aed41fe"/>
    <p:sldId xmlns:r="http://schemas.openxmlformats.org/officeDocument/2006/relationships" id="258" r:id="R3c003423808747cb"/>
    <p:sldId xmlns:r="http://schemas.openxmlformats.org/officeDocument/2006/relationships" id="259" r:id="R5f542bbd960c47cd"/>
    <p:sldId xmlns:r="http://schemas.openxmlformats.org/officeDocument/2006/relationships" id="260" r:id="R8672958a4e6b4f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0e501545784aa9" /><Relationship Type="http://schemas.openxmlformats.org/officeDocument/2006/relationships/slideMaster" Target="/ppt/slideMasters/slideMaster1.xml" Id="R207b2795a5e14fb1" /><Relationship Type="http://schemas.openxmlformats.org/officeDocument/2006/relationships/notesMaster" Target="/ppt/notesMasters/notesMaster1.xml" Id="R4fc756de1a9a4356" /><Relationship Type="http://schemas.openxmlformats.org/officeDocument/2006/relationships/presProps" Target="/ppt/presProps.xml" Id="Re5e8b29fa94842f1" /><Relationship Type="http://schemas.openxmlformats.org/officeDocument/2006/relationships/tableStyles" Target="/ppt/tableStyles.xml" Id="R3ced41997c14414c" /><Relationship Type="http://schemas.openxmlformats.org/officeDocument/2006/relationships/slide" Target="/ppt/slides/slide1.xml" Id="Rd0d51c2259eb4f22" /><Relationship Type="http://schemas.openxmlformats.org/officeDocument/2006/relationships/slide" Target="/ppt/slides/slide2.xml" Id="R7f4013ef1aed41fe" /><Relationship Type="http://schemas.openxmlformats.org/officeDocument/2006/relationships/slide" Target="/ppt/slides/slide3.xml" Id="R3c003423808747cb" /><Relationship Type="http://schemas.openxmlformats.org/officeDocument/2006/relationships/slide" Target="/ppt/slides/slide4.xml" Id="R5f542bbd960c47cd" /><Relationship Type="http://schemas.openxmlformats.org/officeDocument/2006/relationships/slide" Target="/ppt/slides/slide5.xml" Id="R8672958a4e6b4f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49b04d35674f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ea489ebe4440b5" /><Relationship Type="http://schemas.openxmlformats.org/officeDocument/2006/relationships/notesMaster" Target="/ppt/notesMasters/notesMaster1.xml" Id="R0a6a3c4263ce4e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88d14e08fb40c2" /><Relationship Type="http://schemas.openxmlformats.org/officeDocument/2006/relationships/notesMaster" Target="/ppt/notesMasters/notesMaster1.xml" Id="R4dad9583f2b047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1ac444c6034ae3" /><Relationship Type="http://schemas.openxmlformats.org/officeDocument/2006/relationships/notesMaster" Target="/ppt/notesMasters/notesMaster1.xml" Id="Rdd6049516e424f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f641c8a8c34fcb" /><Relationship Type="http://schemas.openxmlformats.org/officeDocument/2006/relationships/notesMaster" Target="/ppt/notesMasters/notesMaster1.xml" Id="R6d440ed95c9848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a2f03ec6cb4570" /><Relationship Type="http://schemas.openxmlformats.org/officeDocument/2006/relationships/notesMaster" Target="/ppt/notesMasters/notesMaster1.xml" Id="R856898ef452149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https://www.who.int/teams/integrated-health-services/quality-health-services/community-engagement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58569322a649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6335bfb2374f10" /><Relationship Type="http://schemas.openxmlformats.org/officeDocument/2006/relationships/slideLayout" Target="/ppt/slideLayouts/slideLayout1.xml" Id="Rcebf6c5c03604c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bf6c5c03604c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dbb41ce5f2458f" /><Relationship Type="http://schemas.openxmlformats.org/officeDocument/2006/relationships/notesSlide" Target="/ppt/notesSlides/notesSlide1.xml" Id="Rf07c8b0511c843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1c8dce5ac440b6" /><Relationship Type="http://schemas.openxmlformats.org/officeDocument/2006/relationships/notesSlide" Target="/ppt/notesSlides/notesSlide2.xml" Id="R86d6ceec638444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1a0b226ea54eef" /><Relationship Type="http://schemas.openxmlformats.org/officeDocument/2006/relationships/notesSlide" Target="/ppt/notesSlides/notesSlide3.xml" Id="Rd38113c1fbd047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d5df88a755475d" /><Relationship Type="http://schemas.openxmlformats.org/officeDocument/2006/relationships/notesSlide" Target="/ppt/notesSlides/notesSlide4.xml" Id="R5b6b70ef3abf49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89144d820e4eb2" /><Relationship Type="http://schemas.openxmlformats.org/officeDocument/2006/relationships/notesSlide" Target="/ppt/notesSlides/notesSlide5.xml" Id="Rba96848bdc3f42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32CCCCF-F650-4660-8289-64228FEAFCDB}"/>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Principes de santé communautaire</a:t>
            </a:r>
          </a:p>
        </p:txBody>
      </p:sp>
      <p:sp>
        <p:nvSpPr>
          <p:cNvPr id="2" name="">
            <a:extLst xmlns:a="http://schemas.openxmlformats.org/drawingml/2006/main">
              <a:ext uri="{FF2B5EF4-FFF2-40B4-BE49-F238E27FC236}">
                <a16:creationId xmlns:a16="http://schemas.microsoft.com/office/drawing/2014/main" id="{CB80B05E-6CD6-4CC3-970A-A95D9613B801}"/>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SCOM101 · Support pédagogique de synthèse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Objectif : relier les notions du cours à une situation de santé publique.</a:t>
            </a:r>
          </a:p>
        </p:txBody>
      </p:sp>
      <p:sp>
        <p:nvSpPr>
          <p:cNvPr id="3" name="">
            <a:extLst xmlns:a="http://schemas.openxmlformats.org/drawingml/2006/main">
              <a:ext uri="{FF2B5EF4-FFF2-40B4-BE49-F238E27FC236}">
                <a16:creationId xmlns:a16="http://schemas.microsoft.com/office/drawing/2014/main" id="{827ABB8D-C506-4238-A1E0-4CD7B288085F}"/>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1</a:t>
            </a:r>
          </a:p>
        </p:txBody>
      </p:sp>
    </p:spTree>
    <p:extLst>
      <p:ext uri="{BB962C8B-B14F-4D97-AF65-F5344CB8AC3E}">
        <p14:creationId xmlns:p14="http://schemas.microsoft.com/office/powerpoint/2010/main" val="1387943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57A9F8-4A72-45A7-9EF6-84DCE52AC908}"/>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Notions essentielles</a:t>
            </a:r>
          </a:p>
        </p:txBody>
      </p:sp>
      <p:sp>
        <p:nvSpPr>
          <p:cNvPr id="2" name="">
            <a:extLst xmlns:a="http://schemas.openxmlformats.org/drawingml/2006/main">
              <a:ext uri="{FF2B5EF4-FFF2-40B4-BE49-F238E27FC236}">
                <a16:creationId xmlns:a16="http://schemas.microsoft.com/office/drawing/2014/main" id="{2A813DB6-2CD3-46B1-A1FD-BDF81A57105A}"/>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Le diagnostic communautaire associe données de santé et expérience des habitants. La participation doit aussi porter sur le choix des priorités, l’action et son suivi.</a:t>
            </a:r>
          </a:p>
        </p:txBody>
      </p:sp>
      <p:sp>
        <p:nvSpPr>
          <p:cNvPr id="3" name="">
            <a:extLst xmlns:a="http://schemas.openxmlformats.org/drawingml/2006/main">
              <a:ext uri="{FF2B5EF4-FFF2-40B4-BE49-F238E27FC236}">
                <a16:creationId xmlns:a16="http://schemas.microsoft.com/office/drawing/2014/main" id="{5AB87AD8-03F8-400B-9DD4-B436A82B35C1}"/>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2</a:t>
            </a:r>
          </a:p>
        </p:txBody>
      </p:sp>
    </p:spTree>
    <p:extLst>
      <p:ext uri="{BB962C8B-B14F-4D97-AF65-F5344CB8AC3E}">
        <p14:creationId xmlns:p14="http://schemas.microsoft.com/office/powerpoint/2010/main" val="15578452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F29316F-5294-452C-B28E-5432F5014795}"/>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Participer au diagnostic communautaire</a:t>
            </a:r>
          </a:p>
        </p:txBody>
      </p:sp>
      <p:sp>
        <p:nvSpPr>
          <p:cNvPr id="2" name="">
            <a:extLst xmlns:a="http://schemas.openxmlformats.org/drawingml/2006/main">
              <a:ext uri="{FF2B5EF4-FFF2-40B4-BE49-F238E27FC236}">
                <a16:creationId xmlns:a16="http://schemas.microsoft.com/office/drawing/2014/main" id="{7447A128-F4BB-4FF4-994C-E5A8A13C0B33}"/>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729"/>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Un diagnostic communautaire combine données disponibles et expérience des habitants. Délimitez la communauté sans supposer qu'elle partage un seul point de vue; incluez les personnes peu entendues et les soignants. Recueillez des observations par entretiens, discussion collective et données de service, avec consentement et confidentialité. Restituez les résultats aux participants, vérifiez les désaccords et discutez ensemble des priorités. La participation concerne aussi la décision et le suivi, pas seulement la collecte d'informations.</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Pour un problème d'accès à l'eau, proposez trois groupes à consulter, deux questions ouvertes et un moyen de restituer les résultats sans identifier les personnes.</a:t>
            </a:r>
          </a:p>
        </p:txBody>
      </p:sp>
      <p:sp>
        <p:nvSpPr>
          <p:cNvPr id="3" name="">
            <a:extLst xmlns:a="http://schemas.openxmlformats.org/drawingml/2006/main">
              <a:ext uri="{FF2B5EF4-FFF2-40B4-BE49-F238E27FC236}">
                <a16:creationId xmlns:a16="http://schemas.microsoft.com/office/drawing/2014/main" id="{93573130-C716-40BD-8CB6-36FF778FE6C9}"/>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3</a:t>
            </a:r>
          </a:p>
        </p:txBody>
      </p:sp>
    </p:spTree>
    <p:extLst>
      <p:ext uri="{BB962C8B-B14F-4D97-AF65-F5344CB8AC3E}">
        <p14:creationId xmlns:p14="http://schemas.microsoft.com/office/powerpoint/2010/main" val="10955388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3543F82-FE52-4842-A8B1-78AE66A0CD61}"/>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Construire une action avec la communauté</a:t>
            </a:r>
          </a:p>
        </p:txBody>
      </p:sp>
      <p:sp>
        <p:nvSpPr>
          <p:cNvPr id="2" name="">
            <a:extLst xmlns:a="http://schemas.openxmlformats.org/drawingml/2006/main">
              <a:ext uri="{FF2B5EF4-FFF2-40B4-BE49-F238E27FC236}">
                <a16:creationId xmlns:a16="http://schemas.microsoft.com/office/drawing/2014/main" id="{DC2FC33B-B785-4ABF-A154-A2960F70E23C}"/>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3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Formulez la priorité en termes concrets: qui est touché, où, et quel obstacle est modifiable. Définissez avec les représentants communautaires un objectif observable, les activités, les responsables, les ressources et une échéance réaliste. Prévoyez dès le départ comment écouter les retours et ajuster l'action. Une réunion de lancement n'est pas une preuve de participation durable; partagez les décisions et rendez compte des résultats. Les professionnels apportent des données techniques, les habitants connaissent les contraintes du terrain.</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À partir d'une faible fréquentation des consultations prénatales, dessinez un plan de quatre lignes: obstacle à vérifier, activité, responsable et indicateur. Distinguez hypothèse et fait établi.</a:t>
            </a:r>
          </a:p>
        </p:txBody>
      </p:sp>
      <p:sp>
        <p:nvSpPr>
          <p:cNvPr id="3" name="">
            <a:extLst xmlns:a="http://schemas.openxmlformats.org/drawingml/2006/main">
              <a:ext uri="{FF2B5EF4-FFF2-40B4-BE49-F238E27FC236}">
                <a16:creationId xmlns:a16="http://schemas.microsoft.com/office/drawing/2014/main" id="{623D7D3C-B4A6-4F7B-AB14-0EDA1BE118BF}"/>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4</a:t>
            </a:r>
          </a:p>
        </p:txBody>
      </p:sp>
    </p:spTree>
    <p:extLst>
      <p:ext uri="{BB962C8B-B14F-4D97-AF65-F5344CB8AC3E}">
        <p14:creationId xmlns:p14="http://schemas.microsoft.com/office/powerpoint/2010/main" val="3732070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023FFE-FCA9-46B1-A230-296317558679}"/>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Pour poursuivre</a:t>
            </a:r>
          </a:p>
        </p:txBody>
      </p:sp>
      <p:sp>
        <p:nvSpPr>
          <p:cNvPr id="2" name="">
            <a:extLst xmlns:a="http://schemas.openxmlformats.org/drawingml/2006/main">
              <a:ext uri="{FF2B5EF4-FFF2-40B4-BE49-F238E27FC236}">
                <a16:creationId xmlns:a16="http://schemas.microsoft.com/office/drawing/2014/main" id="{70C2917F-CFDA-47FB-B65E-DDCC9AE8883F}"/>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Lisez les pages de cours et réalisez les exercices dans Moodle.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Référence principale : https://www.who.int/publications/m/item/community-engagement-for-quality--people-centred-health-services</a:t>
            </a:r>
          </a:p>
        </p:txBody>
      </p:sp>
      <p:sp>
        <p:nvSpPr>
          <p:cNvPr id="3" name="">
            <a:extLst xmlns:a="http://schemas.openxmlformats.org/drawingml/2006/main">
              <a:ext uri="{FF2B5EF4-FFF2-40B4-BE49-F238E27FC236}">
                <a16:creationId xmlns:a16="http://schemas.microsoft.com/office/drawing/2014/main" id="{CCECE4E1-8F36-44FC-A0BE-8975D6CF0E89}"/>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NaN</a:t>
            </a:r>
          </a:p>
        </p:txBody>
      </p:sp>
    </p:spTree>
    <p:extLst>
      <p:ext uri="{BB962C8B-B14F-4D97-AF65-F5344CB8AC3E}">
        <p14:creationId xmlns:p14="http://schemas.microsoft.com/office/powerpoint/2010/main" val="997283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2026-09-29T15:13:24.4180000Z</dcterms:created>
  <dcterms:modified xsi:type="dcterms:W3CDTF">2026-09-29T15:13:24.4180000Z</dcterms:modified>
</coreProperties>
</file>