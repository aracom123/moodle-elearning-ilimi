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885eccb26e4095" /><Relationship Type="http://schemas.openxmlformats.org/officeDocument/2006/relationships/extended-properties" Target="/docProps/app.xml" Id="R61a5841a5f204775" /><Relationship Type="http://schemas.openxmlformats.org/officeDocument/2006/relationships/officeDocument" Target="/ppt/presentation.xml" Id="R94a9a68a99c14910" /></Relationships>
</file>

<file path=ppt/presentation.xml><?xml version="1.0" encoding="utf-8"?>
<p:presentation xmlns:p="http://schemas.openxmlformats.org/presentationml/2006/main">
  <p:sldMasterIdLst>
    <p:sldMasterId xmlns:r="http://schemas.openxmlformats.org/officeDocument/2006/relationships" id="2147483648" r:id="Rabfab3965b244727"/>
  </p:sldMasterIdLst>
  <p:notesMasterIdLst>
    <p:notesMasterId xmlns:r="http://schemas.openxmlformats.org/officeDocument/2006/relationships" r:id="R6319f2ae28e84f3e"/>
  </p:notesMasterIdLst>
  <p:sldIdLst>
    <p:sldId xmlns:r="http://schemas.openxmlformats.org/officeDocument/2006/relationships" id="256" r:id="R36ae5c196eab4bf5"/>
    <p:sldId xmlns:r="http://schemas.openxmlformats.org/officeDocument/2006/relationships" id="257" r:id="R1ebc0092aa024f48"/>
    <p:sldId xmlns:r="http://schemas.openxmlformats.org/officeDocument/2006/relationships" id="258" r:id="R37e12285fcc84f66"/>
    <p:sldId xmlns:r="http://schemas.openxmlformats.org/officeDocument/2006/relationships" id="259" r:id="Ra3d2621b0a6b47a7"/>
    <p:sldId xmlns:r="http://schemas.openxmlformats.org/officeDocument/2006/relationships" id="260" r:id="R71ff969b3bfb49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71d9fda3e8449a" /><Relationship Type="http://schemas.openxmlformats.org/officeDocument/2006/relationships/slideMaster" Target="/ppt/slideMasters/slideMaster1.xml" Id="Rabfab3965b244727" /><Relationship Type="http://schemas.openxmlformats.org/officeDocument/2006/relationships/notesMaster" Target="/ppt/notesMasters/notesMaster1.xml" Id="R6319f2ae28e84f3e" /><Relationship Type="http://schemas.openxmlformats.org/officeDocument/2006/relationships/presProps" Target="/ppt/presProps.xml" Id="R4681aaa70f0a44a9" /><Relationship Type="http://schemas.openxmlformats.org/officeDocument/2006/relationships/tableStyles" Target="/ppt/tableStyles.xml" Id="Re8297639ec74410d" /><Relationship Type="http://schemas.openxmlformats.org/officeDocument/2006/relationships/slide" Target="/ppt/slides/slide1.xml" Id="R36ae5c196eab4bf5" /><Relationship Type="http://schemas.openxmlformats.org/officeDocument/2006/relationships/slide" Target="/ppt/slides/slide2.xml" Id="R1ebc0092aa024f48" /><Relationship Type="http://schemas.openxmlformats.org/officeDocument/2006/relationships/slide" Target="/ppt/slides/slide3.xml" Id="R37e12285fcc84f66" /><Relationship Type="http://schemas.openxmlformats.org/officeDocument/2006/relationships/slide" Target="/ppt/slides/slide4.xml" Id="Ra3d2621b0a6b47a7" /><Relationship Type="http://schemas.openxmlformats.org/officeDocument/2006/relationships/slide" Target="/ppt/slides/slide5.xml" Id="R71ff969b3bfb49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310bd4ca0c49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41035a46204b1e" /><Relationship Type="http://schemas.openxmlformats.org/officeDocument/2006/relationships/notesMaster" Target="/ppt/notesMasters/notesMaster1.xml" Id="R68543373a3a744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ed114f11af48bc" /><Relationship Type="http://schemas.openxmlformats.org/officeDocument/2006/relationships/notesMaster" Target="/ppt/notesMasters/notesMaster1.xml" Id="R27d818d3b38142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4425978f324d97" /><Relationship Type="http://schemas.openxmlformats.org/officeDocument/2006/relationships/notesMaster" Target="/ppt/notesMasters/notesMaster1.xml" Id="R957f64cce8c945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27caf0ba3f44f8" /><Relationship Type="http://schemas.openxmlformats.org/officeDocument/2006/relationships/notesMaster" Target="/ppt/notesMasters/notesMaster1.xml" Id="R53a9452d760745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e06df1ae094bd1" /><Relationship Type="http://schemas.openxmlformats.org/officeDocument/2006/relationships/notesMaster" Target="/ppt/notesMasters/notesMaster1.xml" Id="R873592b3bef541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https://www.cdc.gov/field-epi-manual/php/chapters/describing-epi-data.html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https://www.cdc.gov/field-epi-manual/php/chapters/describing-epi-data.html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https://www.cdc.gov/field-epi-manual/php/chapters/field-investigation.html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https://www.cdc.gov/field-epi-manual/php/chapters/describing-epi-data.html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https://www.cdc.gov/field-epi-manual/php/chapters/describing-epi-data.html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0767b8389c41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9475d8eca54e9d" /><Relationship Type="http://schemas.openxmlformats.org/officeDocument/2006/relationships/slideLayout" Target="/ppt/slideLayouts/slideLayout1.xml" Id="R6b6039981bf34f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6039981bf34f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8bdbe62a9945ef" /><Relationship Type="http://schemas.openxmlformats.org/officeDocument/2006/relationships/notesSlide" Target="/ppt/notesSlides/notesSlide1.xml" Id="R8c8943947b4f40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9a0e2603a94e9b" /><Relationship Type="http://schemas.openxmlformats.org/officeDocument/2006/relationships/notesSlide" Target="/ppt/notesSlides/notesSlide2.xml" Id="R565ed0c6b0b849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e03e9227824dd0" /><Relationship Type="http://schemas.openxmlformats.org/officeDocument/2006/relationships/notesSlide" Target="/ppt/notesSlides/notesSlide3.xml" Id="R5c7e244a649e4e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5e8d7b4a9e465b" /><Relationship Type="http://schemas.openxmlformats.org/officeDocument/2006/relationships/notesSlide" Target="/ppt/notesSlides/notesSlide4.xml" Id="Reedf12f9b98b44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26a5e5ff8a24e56" /><Relationship Type="http://schemas.openxmlformats.org/officeDocument/2006/relationships/notesSlide" Target="/ppt/notesSlides/notesSlide5.xml" Id="R5e788d03c4644be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37FB4A8-1E75-4C7B-87AF-6654C274E7D1}"/>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Introduction à l’épidémiologie</a:t>
            </a:r>
          </a:p>
        </p:txBody>
      </p:sp>
      <p:sp>
        <p:nvSpPr>
          <p:cNvPr id="2" name="">
            <a:extLst xmlns:a="http://schemas.openxmlformats.org/drawingml/2006/main">
              <a:ext uri="{FF2B5EF4-FFF2-40B4-BE49-F238E27FC236}">
                <a16:creationId xmlns:a16="http://schemas.microsoft.com/office/drawing/2014/main" id="{FACE2037-765E-4689-8A5C-6ED901BE2B10}"/>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EPID101 · Support pédagogique de synthèse</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Objectif : relier les notions du cours à une situation de santé publique.</a:t>
            </a:r>
          </a:p>
        </p:txBody>
      </p:sp>
      <p:sp>
        <p:nvSpPr>
          <p:cNvPr id="3" name="">
            <a:extLst xmlns:a="http://schemas.openxmlformats.org/drawingml/2006/main">
              <a:ext uri="{FF2B5EF4-FFF2-40B4-BE49-F238E27FC236}">
                <a16:creationId xmlns:a16="http://schemas.microsoft.com/office/drawing/2014/main" id="{2E5405FE-686D-4491-A280-9FBD0F679124}"/>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1</a:t>
            </a:r>
          </a:p>
        </p:txBody>
      </p:sp>
    </p:spTree>
    <p:extLst>
      <p:ext uri="{BB962C8B-B14F-4D97-AF65-F5344CB8AC3E}">
        <p14:creationId xmlns:p14="http://schemas.microsoft.com/office/powerpoint/2010/main" val="9390549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AD5B09E-F6BE-400C-965B-0E77E85410F3}"/>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Notions essentielles</a:t>
            </a:r>
          </a:p>
        </p:txBody>
      </p:sp>
      <p:sp>
        <p:nvSpPr>
          <p:cNvPr id="2" name="">
            <a:extLst xmlns:a="http://schemas.openxmlformats.org/drawingml/2006/main">
              <a:ext uri="{FF2B5EF4-FFF2-40B4-BE49-F238E27FC236}">
                <a16:creationId xmlns:a16="http://schemas.microsoft.com/office/drawing/2014/main" id="{54BB7FC0-6B97-4F0B-9E90-1594930A183D}"/>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La prévalence décrit les cas existants dans une population définie. L’incidence décrit les nouveaux cas pendant une période. Toujours préciser le dénominateur et la période.</a:t>
            </a:r>
          </a:p>
        </p:txBody>
      </p:sp>
      <p:sp>
        <p:nvSpPr>
          <p:cNvPr id="3" name="">
            <a:extLst xmlns:a="http://schemas.openxmlformats.org/drawingml/2006/main">
              <a:ext uri="{FF2B5EF4-FFF2-40B4-BE49-F238E27FC236}">
                <a16:creationId xmlns:a16="http://schemas.microsoft.com/office/drawing/2014/main" id="{81B35BB3-1430-4090-A1EB-01424D0907D1}"/>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2</a:t>
            </a:r>
          </a:p>
        </p:txBody>
      </p:sp>
    </p:spTree>
    <p:extLst>
      <p:ext uri="{BB962C8B-B14F-4D97-AF65-F5344CB8AC3E}">
        <p14:creationId xmlns:p14="http://schemas.microsoft.com/office/powerpoint/2010/main" val="15258401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B1AF53C-868D-468E-9B39-42B0B9E18B6B}"/>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Enquête de terrain et surveillance</a:t>
            </a:r>
          </a:p>
        </p:txBody>
      </p:sp>
      <p:sp>
        <p:nvSpPr>
          <p:cNvPr id="2" name="">
            <a:extLst xmlns:a="http://schemas.openxmlformats.org/drawingml/2006/main">
              <a:ext uri="{FF2B5EF4-FFF2-40B4-BE49-F238E27FC236}">
                <a16:creationId xmlns:a16="http://schemas.microsoft.com/office/drawing/2014/main" id="{3359EFA7-B6FD-4ABE-8166-4F4D2C97DCDF}"/>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23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Une surveillance organise la collecte, l'analyse et l'utilisation régulières de données de santé. Une enquête de terrain répond à une question précise, par exemple une hausse inhabituelle de cas. Définissez d'abord le problème, le cas et la population concernée. Vérifiez la qualité des données, décrivez les cas selon le temps, le lieu et les personnes, puis formulez des hypothèses. Les mesures urgentes de protection peuvent commencer avant la fin de l'enquête lorsque la situation le justifie. Documentez les sources, les limites et la date des analyses.</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À appliquer : Un district signale 12 cas de diarrhée en une semaine contre 3 habituellement. Rédigez une définition provisoire de cas, proposez deux sources de données et expliquez comment représenter les cas dans le temps.</a:t>
            </a:r>
          </a:p>
        </p:txBody>
      </p:sp>
      <p:sp>
        <p:nvSpPr>
          <p:cNvPr id="3" name="">
            <a:extLst xmlns:a="http://schemas.openxmlformats.org/drawingml/2006/main">
              <a:ext uri="{FF2B5EF4-FFF2-40B4-BE49-F238E27FC236}">
                <a16:creationId xmlns:a16="http://schemas.microsoft.com/office/drawing/2014/main" id="{7B8364A5-5DCC-4B40-8408-10D8320445CB}"/>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3</a:t>
            </a:r>
          </a:p>
        </p:txBody>
      </p:sp>
    </p:spTree>
    <p:extLst>
      <p:ext uri="{BB962C8B-B14F-4D97-AF65-F5344CB8AC3E}">
        <p14:creationId xmlns:p14="http://schemas.microsoft.com/office/powerpoint/2010/main" val="12754668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64509D8-6964-4DAA-88B5-7E899122524D}"/>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Interpréter et communiquer un résultat épidémiologique</a:t>
            </a:r>
          </a:p>
        </p:txBody>
      </p:sp>
      <p:sp>
        <p:nvSpPr>
          <p:cNvPr id="2" name="">
            <a:extLst xmlns:a="http://schemas.openxmlformats.org/drawingml/2006/main">
              <a:ext uri="{FF2B5EF4-FFF2-40B4-BE49-F238E27FC236}">
                <a16:creationId xmlns:a16="http://schemas.microsoft.com/office/drawing/2014/main" id="{11186443-B43E-46B7-B07C-D03E773B5066}"/>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23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Un nombre de cas seul ne décrit pas un risque. Précisez la population à risque, la période d'observation et la définition de cas. Comparez des taux calculés de la même façon; une différence apparente peut refléter une surveillance plus complète, une population différente ou une fluctuation aléatoire. Un compte rendu utile sépare les observations, leur interprétation et les actions proposées. Mentionnez les données manquantes et les biais plausibles, puis adaptez le message aux professionnels et à la communauté sans révéler de données personnelles.</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À appliquer : Deux centres rapportent 20 et 10 cas, parmi respectivement 2 000 et 500 personnes suivies. Calculez la proportion dans chaque centre et expliquez pourquoi les nombres bruts conduiraient à une mauvaise conclusion.</a:t>
            </a:r>
          </a:p>
        </p:txBody>
      </p:sp>
      <p:sp>
        <p:nvSpPr>
          <p:cNvPr id="3" name="">
            <a:extLst xmlns:a="http://schemas.openxmlformats.org/drawingml/2006/main">
              <a:ext uri="{FF2B5EF4-FFF2-40B4-BE49-F238E27FC236}">
                <a16:creationId xmlns:a16="http://schemas.microsoft.com/office/drawing/2014/main" id="{D6D19FF0-8ED1-44D2-B0A1-56ABA3B02DEF}"/>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4</a:t>
            </a:r>
          </a:p>
        </p:txBody>
      </p:sp>
    </p:spTree>
    <p:extLst>
      <p:ext uri="{BB962C8B-B14F-4D97-AF65-F5344CB8AC3E}">
        <p14:creationId xmlns:p14="http://schemas.microsoft.com/office/powerpoint/2010/main" val="9383204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E97E484-ADC8-41B5-B26A-59104D337E71}"/>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Pour poursuivre</a:t>
            </a:r>
          </a:p>
        </p:txBody>
      </p:sp>
      <p:sp>
        <p:nvSpPr>
          <p:cNvPr id="2" name="">
            <a:extLst xmlns:a="http://schemas.openxmlformats.org/drawingml/2006/main">
              <a:ext uri="{FF2B5EF4-FFF2-40B4-BE49-F238E27FC236}">
                <a16:creationId xmlns:a16="http://schemas.microsoft.com/office/drawing/2014/main" id="{D931A74B-B019-44A2-9DEF-A43FE712857E}"/>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Lisez les pages de cours et réalisez les exercices dans Moodle.</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Référence principale : https://www.cdc.gov/field-epi-manual/php/chapters/describing-epi-data.html</a:t>
            </a:r>
          </a:p>
        </p:txBody>
      </p:sp>
      <p:sp>
        <p:nvSpPr>
          <p:cNvPr id="3" name="">
            <a:extLst xmlns:a="http://schemas.openxmlformats.org/drawingml/2006/main">
              <a:ext uri="{FF2B5EF4-FFF2-40B4-BE49-F238E27FC236}">
                <a16:creationId xmlns:a16="http://schemas.microsoft.com/office/drawing/2014/main" id="{3FEFACAA-0FB2-4202-8BC9-76ABAE5D157E}"/>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NaN</a:t>
            </a:r>
          </a:p>
        </p:txBody>
      </p:sp>
    </p:spTree>
    <p:extLst>
      <p:ext uri="{BB962C8B-B14F-4D97-AF65-F5344CB8AC3E}">
        <p14:creationId xmlns:p14="http://schemas.microsoft.com/office/powerpoint/2010/main" val="12107062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2026-09-29T15:13:23.5140000Z</dcterms:created>
  <dcterms:modified xsi:type="dcterms:W3CDTF">2026-09-29T15:13:23.5140000Z</dcterms:modified>
</coreProperties>
</file>