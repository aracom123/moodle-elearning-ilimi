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f921d408504007" /><Relationship Type="http://schemas.openxmlformats.org/officeDocument/2006/relationships/extended-properties" Target="/docProps/app.xml" Id="Rd6416a014c414f03" /><Relationship Type="http://schemas.openxmlformats.org/officeDocument/2006/relationships/officeDocument" Target="/ppt/presentation.xml" Id="Rc3752147e71344bb" /></Relationships>
</file>

<file path=ppt/presentation.xml><?xml version="1.0" encoding="utf-8"?>
<p:presentation xmlns:p="http://schemas.openxmlformats.org/presentationml/2006/main">
  <p:sldMasterIdLst>
    <p:sldMasterId xmlns:r="http://schemas.openxmlformats.org/officeDocument/2006/relationships" id="2147483648" r:id="Rab3e7f39afc94b8d"/>
  </p:sldMasterIdLst>
  <p:notesMasterIdLst>
    <p:notesMasterId xmlns:r="http://schemas.openxmlformats.org/officeDocument/2006/relationships" r:id="R29fa5f96dfe54e46"/>
  </p:notesMasterIdLst>
  <p:sldIdLst>
    <p:sldId xmlns:r="http://schemas.openxmlformats.org/officeDocument/2006/relationships" id="256" r:id="R0df153a719684b69"/>
    <p:sldId xmlns:r="http://schemas.openxmlformats.org/officeDocument/2006/relationships" id="257" r:id="R0ee54ea5aae44895"/>
    <p:sldId xmlns:r="http://schemas.openxmlformats.org/officeDocument/2006/relationships" id="258" r:id="R30e4f19b2d6d453b"/>
    <p:sldId xmlns:r="http://schemas.openxmlformats.org/officeDocument/2006/relationships" id="259" r:id="R70d573c73d4d4f25"/>
    <p:sldId xmlns:r="http://schemas.openxmlformats.org/officeDocument/2006/relationships" id="260" r:id="R734206614c4840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21c51d7dbb4b49" /><Relationship Type="http://schemas.openxmlformats.org/officeDocument/2006/relationships/slideMaster" Target="/ppt/slideMasters/slideMaster1.xml" Id="Rab3e7f39afc94b8d" /><Relationship Type="http://schemas.openxmlformats.org/officeDocument/2006/relationships/notesMaster" Target="/ppt/notesMasters/notesMaster1.xml" Id="R29fa5f96dfe54e46" /><Relationship Type="http://schemas.openxmlformats.org/officeDocument/2006/relationships/presProps" Target="/ppt/presProps.xml" Id="Ra489899efa614e5c" /><Relationship Type="http://schemas.openxmlformats.org/officeDocument/2006/relationships/tableStyles" Target="/ppt/tableStyles.xml" Id="R3f274e5666d54790" /><Relationship Type="http://schemas.openxmlformats.org/officeDocument/2006/relationships/slide" Target="/ppt/slides/slide1.xml" Id="R0df153a719684b69" /><Relationship Type="http://schemas.openxmlformats.org/officeDocument/2006/relationships/slide" Target="/ppt/slides/slide2.xml" Id="R0ee54ea5aae44895" /><Relationship Type="http://schemas.openxmlformats.org/officeDocument/2006/relationships/slide" Target="/ppt/slides/slide3.xml" Id="R30e4f19b2d6d453b" /><Relationship Type="http://schemas.openxmlformats.org/officeDocument/2006/relationships/slide" Target="/ppt/slides/slide4.xml" Id="R70d573c73d4d4f25" /><Relationship Type="http://schemas.openxmlformats.org/officeDocument/2006/relationships/slide" Target="/ppt/slides/slide5.xml" Id="R734206614c4840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e32dab535640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f75ed4bd554d14" /><Relationship Type="http://schemas.openxmlformats.org/officeDocument/2006/relationships/notesMaster" Target="/ppt/notesMasters/notesMaster1.xml" Id="R7a3adc3689d64d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21adfb3d354be2" /><Relationship Type="http://schemas.openxmlformats.org/officeDocument/2006/relationships/notesMaster" Target="/ppt/notesMasters/notesMaster1.xml" Id="R51e146c4185443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4dada7e6114a02" /><Relationship Type="http://schemas.openxmlformats.org/officeDocument/2006/relationships/notesMaster" Target="/ppt/notesMasters/notesMaster1.xml" Id="Rf70bc9543fcc41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4008086d27454f" /><Relationship Type="http://schemas.openxmlformats.org/officeDocument/2006/relationships/notesMaster" Target="/ppt/notesMasters/notesMaster1.xml" Id="R93134600e6894b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5f8c3442e8436d" /><Relationship Type="http://schemas.openxmlformats.org/officeDocument/2006/relationships/notesMaster" Target="/ppt/notesMasters/notesMaster1.xml" Id="R671eda2a698f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https://www.who.int/news-room/fact-sheets/detail/noncommunicable-diseases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https://www.who.int/news-room/fact-sheets/detail/noncommunicable-diseases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https://www.who.int/news-room/fact-sheets/detail/noncommunicable-diseases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https://www.who.int/news-room/fact-sheets/detail/noncommunicable-diseases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https://www.who.int/news-room/fact-sheets/detail/noncommunicable-diseases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691900bb749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8592fd02e54aca" /><Relationship Type="http://schemas.openxmlformats.org/officeDocument/2006/relationships/slideLayout" Target="/ppt/slideLayouts/slideLayout1.xml" Id="Re1f1ca57779f46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f1ca57779f46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416a84b0da4a16" /><Relationship Type="http://schemas.openxmlformats.org/officeDocument/2006/relationships/notesSlide" Target="/ppt/notesSlides/notesSlide1.xml" Id="R9ae9d6f3c416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944694c2664956" /><Relationship Type="http://schemas.openxmlformats.org/officeDocument/2006/relationships/notesSlide" Target="/ppt/notesSlides/notesSlide2.xml" Id="Red36fc88274f48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c464ab98094113" /><Relationship Type="http://schemas.openxmlformats.org/officeDocument/2006/relationships/notesSlide" Target="/ppt/notesSlides/notesSlide3.xml" Id="Re72e953e75684e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64d865ee8a4476" /><Relationship Type="http://schemas.openxmlformats.org/officeDocument/2006/relationships/notesSlide" Target="/ppt/notesSlides/notesSlide4.xml" Id="R64eaa90ba2b345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a50afadade4c8e" /><Relationship Type="http://schemas.openxmlformats.org/officeDocument/2006/relationships/notesSlide" Target="/ppt/notesSlides/notesSlide5.xml" Id="R7cc865b3dc0349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2BA997B-EBAA-49D9-8F4F-4CE1B75428E6}"/>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Épidémiologie des maladies chroniques</a:t>
            </a:r>
          </a:p>
        </p:txBody>
      </p:sp>
      <p:sp>
        <p:nvSpPr>
          <p:cNvPr id="2" name="">
            <a:extLst xmlns:a="http://schemas.openxmlformats.org/drawingml/2006/main">
              <a:ext uri="{FF2B5EF4-FFF2-40B4-BE49-F238E27FC236}">
                <a16:creationId xmlns:a16="http://schemas.microsoft.com/office/drawing/2014/main" id="{C5E9D3B2-FEBC-4DEE-B7E1-32A4A8BB734C}"/>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EPID301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1284A72D-5501-49A3-BE24-2F41626A2A5B}"/>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15370114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EF99CFA-A9AA-4168-BCF9-959BF6B3C4C2}"/>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2B8F8DAA-1FB2-4100-88B2-533B7884648C}"/>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Les principales maladies non transmissibles incluent maladies cardiovasculaires, cancers, maladies respiratoires chroniques et diabète. Leur prévention agit sur les facteurs de risque et les milieux de vie.</a:t>
            </a:r>
          </a:p>
        </p:txBody>
      </p:sp>
      <p:sp>
        <p:nvSpPr>
          <p:cNvPr id="3" name="">
            <a:extLst xmlns:a="http://schemas.openxmlformats.org/drawingml/2006/main">
              <a:ext uri="{FF2B5EF4-FFF2-40B4-BE49-F238E27FC236}">
                <a16:creationId xmlns:a16="http://schemas.microsoft.com/office/drawing/2014/main" id="{B7B5821C-6016-438F-BC56-5FB2C71D95E1}"/>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955742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9759D9E-D558-4A9D-8186-9DD291CCA940}"/>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Prévenir les maladies chroniques dans une population</a:t>
            </a:r>
          </a:p>
        </p:txBody>
      </p:sp>
      <p:sp>
        <p:nvSpPr>
          <p:cNvPr id="2" name="">
            <a:extLst xmlns:a="http://schemas.openxmlformats.org/drawingml/2006/main">
              <a:ext uri="{FF2B5EF4-FFF2-40B4-BE49-F238E27FC236}">
                <a16:creationId xmlns:a16="http://schemas.microsoft.com/office/drawing/2014/main" id="{34A21ECC-2604-4B5A-BD54-1E561AB91333}"/>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95"/>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Les principales maladies non transmissibles comprennent maladies cardiovasculaires, cancers, maladies respiratoires chroniques et diabète. Le tabac, une alimentation défavorable à la santé, l'inactivité physique et l'usage nocif de l'alcool sont des facteurs comportementaux importants; pression artérielle élevée et hyperglycémie font partie des facteurs métaboliques. Une intervention populationnelle agit aussi sur l'environnement: disponibilité des aliments, espaces de marche, accès à l'information et aux soins. Définissez la population cible, l'action, la couverture attendue et les indicateurs de suivi. Adaptez toute recommandation clinique aux protocoles nationaux en vigueur.</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Choisissez un facteur de risque dans un quartier. Proposez une mesure individuelle et une mesure sur l'environnement, puis indiquez un indicateur de mise en œuvre et un indicateur de résultat.</a:t>
            </a:r>
          </a:p>
        </p:txBody>
      </p:sp>
      <p:sp>
        <p:nvSpPr>
          <p:cNvPr id="3" name="">
            <a:extLst xmlns:a="http://schemas.openxmlformats.org/drawingml/2006/main">
              <a:ext uri="{FF2B5EF4-FFF2-40B4-BE49-F238E27FC236}">
                <a16:creationId xmlns:a16="http://schemas.microsoft.com/office/drawing/2014/main" id="{BCB24119-2F8D-4FA1-842A-9890C5BE13D1}"/>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19583308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1392CD1-473C-477A-A5E7-AABCFECABC08}"/>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Surveillance des maladies chroniques et limites des données</a:t>
            </a:r>
          </a:p>
        </p:txBody>
      </p:sp>
      <p:sp>
        <p:nvSpPr>
          <p:cNvPr id="2" name="">
            <a:extLst xmlns:a="http://schemas.openxmlformats.org/drawingml/2006/main">
              <a:ext uri="{FF2B5EF4-FFF2-40B4-BE49-F238E27FC236}">
                <a16:creationId xmlns:a16="http://schemas.microsoft.com/office/drawing/2014/main" id="{0A580FB4-7FEF-485E-9D18-CE5E58535CF5}"/>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3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Les registres, dossiers de soins et enquêtes en population ne mesurent pas exactement la même chose. Un registre peut suivre les cas diagnostiqués; une enquête peut estimer des facteurs de risque chez des personnes qui ne consultent pas. Avant de comparer deux années, vérifiez si la définition de cas, la population, l'accès au dépistage ou la complétude ont changé. Une augmentation de cas enregistrés peut indiquer plus de maladie, mais aussi un meilleur repérage. Présentez des taux avec leur dénominateur et séparez constat, hypothèses et décisions.</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Un programme double le nombre de centres de dépistage et observe davantage de diagnostics de diabète. Formulez deux explications possibles et une donnée permettant de les départager.</a:t>
            </a:r>
          </a:p>
        </p:txBody>
      </p:sp>
      <p:sp>
        <p:nvSpPr>
          <p:cNvPr id="3" name="">
            <a:extLst xmlns:a="http://schemas.openxmlformats.org/drawingml/2006/main">
              <a:ext uri="{FF2B5EF4-FFF2-40B4-BE49-F238E27FC236}">
                <a16:creationId xmlns:a16="http://schemas.microsoft.com/office/drawing/2014/main" id="{9E306B39-301F-4CCA-8DDA-BF71BD6DFF57}"/>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5240664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D191646-47BB-4EB3-B9CC-0061621514EC}"/>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7286977B-B8AD-4061-9C49-0F508746B103}"/>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https://www.who.int/news-room/fact-sheets/detail/noncommunicable-diseases</a:t>
            </a:r>
          </a:p>
        </p:txBody>
      </p:sp>
      <p:sp>
        <p:nvSpPr>
          <p:cNvPr id="3" name="">
            <a:extLst xmlns:a="http://schemas.openxmlformats.org/drawingml/2006/main">
              <a:ext uri="{FF2B5EF4-FFF2-40B4-BE49-F238E27FC236}">
                <a16:creationId xmlns:a16="http://schemas.microsoft.com/office/drawing/2014/main" id="{40738867-E2D7-462A-ADC3-1D933AA2F534}"/>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2137358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2026-09-29T15:13:24.1810000Z</dcterms:created>
  <dcterms:modified xsi:type="dcterms:W3CDTF">2026-09-29T15:13:24.1810000Z</dcterms:modified>
</coreProperties>
</file>