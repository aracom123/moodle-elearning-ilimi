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306b4b1f394a5f" /><Relationship Type="http://schemas.openxmlformats.org/officeDocument/2006/relationships/extended-properties" Target="/docProps/app.xml" Id="Rceea48c2edfa406c" /><Relationship Type="http://schemas.openxmlformats.org/officeDocument/2006/relationships/officeDocument" Target="/ppt/presentation.xml" Id="Re623179fb9c04fe1" /></Relationships>
</file>

<file path=ppt/presentation.xml><?xml version="1.0" encoding="utf-8"?>
<p:presentation xmlns:p="http://schemas.openxmlformats.org/presentationml/2006/main">
  <p:sldMasterIdLst>
    <p:sldMasterId xmlns:r="http://schemas.openxmlformats.org/officeDocument/2006/relationships" id="2147483648" r:id="Rb266fe1922a14b96"/>
  </p:sldMasterIdLst>
  <p:notesMasterIdLst>
    <p:notesMasterId xmlns:r="http://schemas.openxmlformats.org/officeDocument/2006/relationships" r:id="Rcc6b0a1755c64415"/>
  </p:notesMasterIdLst>
  <p:sldIdLst>
    <p:sldId xmlns:r="http://schemas.openxmlformats.org/officeDocument/2006/relationships" id="256" r:id="Rd698a123e9504198"/>
    <p:sldId xmlns:r="http://schemas.openxmlformats.org/officeDocument/2006/relationships" id="257" r:id="R33524505ddb94a08"/>
    <p:sldId xmlns:r="http://schemas.openxmlformats.org/officeDocument/2006/relationships" id="258" r:id="R1036cf95f6a74b29"/>
    <p:sldId xmlns:r="http://schemas.openxmlformats.org/officeDocument/2006/relationships" id="259" r:id="R14f0050b0776443b"/>
    <p:sldId xmlns:r="http://schemas.openxmlformats.org/officeDocument/2006/relationships" id="260" r:id="Re651a536838b44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728d68cf0b4743" /><Relationship Type="http://schemas.openxmlformats.org/officeDocument/2006/relationships/slideMaster" Target="/ppt/slideMasters/slideMaster1.xml" Id="Rb266fe1922a14b96" /><Relationship Type="http://schemas.openxmlformats.org/officeDocument/2006/relationships/notesMaster" Target="/ppt/notesMasters/notesMaster1.xml" Id="Rcc6b0a1755c64415" /><Relationship Type="http://schemas.openxmlformats.org/officeDocument/2006/relationships/presProps" Target="/ppt/presProps.xml" Id="Rb867d38960d8441e" /><Relationship Type="http://schemas.openxmlformats.org/officeDocument/2006/relationships/tableStyles" Target="/ppt/tableStyles.xml" Id="R622e02a2ad8643bf" /><Relationship Type="http://schemas.openxmlformats.org/officeDocument/2006/relationships/slide" Target="/ppt/slides/slide1.xml" Id="Rd698a123e9504198" /><Relationship Type="http://schemas.openxmlformats.org/officeDocument/2006/relationships/slide" Target="/ppt/slides/slide2.xml" Id="R33524505ddb94a08" /><Relationship Type="http://schemas.openxmlformats.org/officeDocument/2006/relationships/slide" Target="/ppt/slides/slide3.xml" Id="R1036cf95f6a74b29" /><Relationship Type="http://schemas.openxmlformats.org/officeDocument/2006/relationships/slide" Target="/ppt/slides/slide4.xml" Id="R14f0050b0776443b" /><Relationship Type="http://schemas.openxmlformats.org/officeDocument/2006/relationships/slide" Target="/ppt/slides/slide5.xml" Id="Re651a536838b44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5478dbf23741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f29d7b9766433a" /><Relationship Type="http://schemas.openxmlformats.org/officeDocument/2006/relationships/notesMaster" Target="/ppt/notesMasters/notesMaster1.xml" Id="R9dbff8c0ec9742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3015d7c70b483d" /><Relationship Type="http://schemas.openxmlformats.org/officeDocument/2006/relationships/notesMaster" Target="/ppt/notesMasters/notesMaster1.xml" Id="Ref1ff1eb2e9543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e4b47a58cf4c23" /><Relationship Type="http://schemas.openxmlformats.org/officeDocument/2006/relationships/notesMaster" Target="/ppt/notesMasters/notesMaster1.xml" Id="R9082ce1bbf2041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d6c7a1f2e547cc" /><Relationship Type="http://schemas.openxmlformats.org/officeDocument/2006/relationships/notesMaster" Target="/ppt/notesMasters/notesMaster1.xml" Id="R3752dd23281745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3ce6d75c9a4b8c" /><Relationship Type="http://schemas.openxmlformats.org/officeDocument/2006/relationships/notesMaster" Target="/ppt/notesMasters/notesMaster1.xml" Id="Rd8b3d76fcc9f4d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https://www.cdc.gov/field-epi-manual/php/chapters/analyze-interpret-data.html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https://www.cdc.gov/field-epi-manual/php/chapters/analyze-interpret-data.html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https://www.cdc.gov/field-epi-manual/php/chapters/analyze-interpret-data.html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https://www.cdc.gov/field-epi-manual/php/chapters/data-collection-management.html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https://www.cdc.gov/field-epi-manual/php/chapters/analyze-interpret-data.html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b0b14c446a46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74900b488848c9" /><Relationship Type="http://schemas.openxmlformats.org/officeDocument/2006/relationships/slideLayout" Target="/ppt/slideLayouts/slideLayout1.xml" Id="Rd03a0a52082344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3a0a52082344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bf4d94a9404b0c" /><Relationship Type="http://schemas.openxmlformats.org/officeDocument/2006/relationships/notesSlide" Target="/ppt/notesSlides/notesSlide1.xml" Id="Rae94ee84ee2b42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a5828b10934fdf" /><Relationship Type="http://schemas.openxmlformats.org/officeDocument/2006/relationships/notesSlide" Target="/ppt/notesSlides/notesSlide2.xml" Id="R73158c5a69914e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6e6e27aef64ded" /><Relationship Type="http://schemas.openxmlformats.org/officeDocument/2006/relationships/notesSlide" Target="/ppt/notesSlides/notesSlide3.xml" Id="Rd072a1189dfb42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13a894c3834a03" /><Relationship Type="http://schemas.openxmlformats.org/officeDocument/2006/relationships/notesSlide" Target="/ppt/notesSlides/notesSlide4.xml" Id="Re1770ff4512d46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144dd2d10047f4" /><Relationship Type="http://schemas.openxmlformats.org/officeDocument/2006/relationships/notesSlide" Target="/ppt/notesSlides/notesSlide5.xml" Id="R40e72cb7f9b5445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836A6D-9C9A-44F7-9917-51E6818253E2}"/>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Biostatistiques appliquées</a:t>
            </a:r>
          </a:p>
        </p:txBody>
      </p:sp>
      <p:sp>
        <p:nvSpPr>
          <p:cNvPr id="2" name="">
            <a:extLst xmlns:a="http://schemas.openxmlformats.org/drawingml/2006/main">
              <a:ext uri="{FF2B5EF4-FFF2-40B4-BE49-F238E27FC236}">
                <a16:creationId xmlns:a16="http://schemas.microsoft.com/office/drawing/2014/main" id="{BE272A72-B112-4128-BF11-D890B8C1AA4F}"/>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BIOS201 · Support pédagogique de synthèse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Objectif : relier les notions du cours à une situation de santé publique.</a:t>
            </a:r>
          </a:p>
        </p:txBody>
      </p:sp>
      <p:sp>
        <p:nvSpPr>
          <p:cNvPr id="3" name="">
            <a:extLst xmlns:a="http://schemas.openxmlformats.org/drawingml/2006/main">
              <a:ext uri="{FF2B5EF4-FFF2-40B4-BE49-F238E27FC236}">
                <a16:creationId xmlns:a16="http://schemas.microsoft.com/office/drawing/2014/main" id="{DC5B67F0-F152-44E2-BFBF-D162FA2A46DC}"/>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1</a:t>
            </a:r>
          </a:p>
        </p:txBody>
      </p:sp>
    </p:spTree>
    <p:extLst>
      <p:ext uri="{BB962C8B-B14F-4D97-AF65-F5344CB8AC3E}">
        <p14:creationId xmlns:p14="http://schemas.microsoft.com/office/powerpoint/2010/main" val="15181399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568C678-41BD-42E7-9F28-A97621FA42B4}"/>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Notions essentielles</a:t>
            </a:r>
          </a:p>
        </p:txBody>
      </p:sp>
      <p:sp>
        <p:nvSpPr>
          <p:cNvPr id="2" name="">
            <a:extLst xmlns:a="http://schemas.openxmlformats.org/drawingml/2006/main">
              <a:ext uri="{FF2B5EF4-FFF2-40B4-BE49-F238E27FC236}">
                <a16:creationId xmlns:a16="http://schemas.microsoft.com/office/drawing/2014/main" id="{B629C401-C7A9-41EE-95DA-5CF7DFFACAB3}"/>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Décrivez d’abord les variables et les données manquantes. Présentez une estimation et son incertitude. Une valeur p ne mesure pas la taille d’un effet.</a:t>
            </a:r>
          </a:p>
        </p:txBody>
      </p:sp>
      <p:sp>
        <p:nvSpPr>
          <p:cNvPr id="3" name="">
            <a:extLst xmlns:a="http://schemas.openxmlformats.org/drawingml/2006/main">
              <a:ext uri="{FF2B5EF4-FFF2-40B4-BE49-F238E27FC236}">
                <a16:creationId xmlns:a16="http://schemas.microsoft.com/office/drawing/2014/main" id="{F563A59F-8B4B-4A6A-90FD-D1A8D347EDCC}"/>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2</a:t>
            </a:r>
          </a:p>
        </p:txBody>
      </p:sp>
    </p:spTree>
    <p:extLst>
      <p:ext uri="{BB962C8B-B14F-4D97-AF65-F5344CB8AC3E}">
        <p14:creationId xmlns:p14="http://schemas.microsoft.com/office/powerpoint/2010/main" val="5850678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C322954-9DE6-40BD-9DD9-B75B1333B436}"/>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Choisir et vérifier une analyse</a:t>
            </a:r>
          </a:p>
        </p:txBody>
      </p:sp>
      <p:sp>
        <p:nvSpPr>
          <p:cNvPr id="2" name="">
            <a:extLst xmlns:a="http://schemas.openxmlformats.org/drawingml/2006/main">
              <a:ext uri="{FF2B5EF4-FFF2-40B4-BE49-F238E27FC236}">
                <a16:creationId xmlns:a16="http://schemas.microsoft.com/office/drawing/2014/main" id="{3F65B71A-7CAF-446C-A954-622E395E1A91}"/>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33"/>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Avant tout test, rédigez la question et identifiez la variable mesurée. Une proportion décrit une variable catégorielle; moyenne et médiane décrivent des données numériques selon leur distribution. Vérifiez indépendance des observations, valeurs manquantes et valeurs extrêmes. Un test statistique ne corrige pas un échantillonnage biaisé. Rapportez toujours l'estimation et son intervalle de confiance, et expliquez l'effet dans l'unité d'origine. La valeur p ne mesure ni la taille de l'effet ni la probabilité que l'hypothèse soit vraie.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Dans deux groupes de 50 personnes, 12 puis 20 déclarent une activité physique régulière. Calculez les deux proportions et leur différence en points de pourcentage. Quel renseignement supplémentaire faut-il avant de conclure à un effet du programme ?</a:t>
            </a:r>
          </a:p>
        </p:txBody>
      </p:sp>
      <p:sp>
        <p:nvSpPr>
          <p:cNvPr id="3" name="">
            <a:extLst xmlns:a="http://schemas.openxmlformats.org/drawingml/2006/main">
              <a:ext uri="{FF2B5EF4-FFF2-40B4-BE49-F238E27FC236}">
                <a16:creationId xmlns:a16="http://schemas.microsoft.com/office/drawing/2014/main" id="{305EFB90-F467-4BA5-BC0E-950362BD12E4}"/>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3</a:t>
            </a:r>
          </a:p>
        </p:txBody>
      </p:sp>
    </p:spTree>
    <p:extLst>
      <p:ext uri="{BB962C8B-B14F-4D97-AF65-F5344CB8AC3E}">
        <p14:creationId xmlns:p14="http://schemas.microsoft.com/office/powerpoint/2010/main" val="43018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C10868B-4B25-47E3-82B9-9E6D0C6AFA7D}"/>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Atelier tableur et restitution</a:t>
            </a:r>
          </a:p>
        </p:txBody>
      </p:sp>
      <p:sp>
        <p:nvSpPr>
          <p:cNvPr id="2" name="">
            <a:extLst xmlns:a="http://schemas.openxmlformats.org/drawingml/2006/main">
              <a:ext uri="{FF2B5EF4-FFF2-40B4-BE49-F238E27FC236}">
                <a16:creationId xmlns:a16="http://schemas.microsoft.com/office/drawing/2014/main" id="{728A4427-1863-4F81-B2CB-0C9570C21273}"/>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6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Créez une ligne par personne et une colonne par variable; ajoutez un dictionnaire indiquant les unités et codes des valeurs manquantes. Conservez le fichier brut et travaillez sur une copie. Comptez les doublons, valeurs impossibles et données absentes avant de calculer. Pour une variable numérique, affichez effectif, médiane et dispersion; pour une catégorie, affichez numérateur et dénominateur. Choisissez un graphique lisible avec titre, axes et unité. Ne publiez pas d'identifiants personnels dans la restitution.</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Préparez un tableau de dix mesures de pression artérielle fictives. Introduisez une valeur manquante et une valeur impossible; documentez leur traitement, puis calculez la médiane des valeurs valides.</a:t>
            </a:r>
          </a:p>
        </p:txBody>
      </p:sp>
      <p:sp>
        <p:nvSpPr>
          <p:cNvPr id="3" name="">
            <a:extLst xmlns:a="http://schemas.openxmlformats.org/drawingml/2006/main">
              <a:ext uri="{FF2B5EF4-FFF2-40B4-BE49-F238E27FC236}">
                <a16:creationId xmlns:a16="http://schemas.microsoft.com/office/drawing/2014/main" id="{391604D4-C4EF-40A0-99EC-A4666625E47C}"/>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4</a:t>
            </a:r>
          </a:p>
        </p:txBody>
      </p:sp>
    </p:spTree>
    <p:extLst>
      <p:ext uri="{BB962C8B-B14F-4D97-AF65-F5344CB8AC3E}">
        <p14:creationId xmlns:p14="http://schemas.microsoft.com/office/powerpoint/2010/main" val="21161829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76ED2BD-2E59-4DA7-B1BE-B80C7400C1EE}"/>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Pour poursuivre</a:t>
            </a:r>
          </a:p>
        </p:txBody>
      </p:sp>
      <p:sp>
        <p:nvSpPr>
          <p:cNvPr id="2" name="">
            <a:extLst xmlns:a="http://schemas.openxmlformats.org/drawingml/2006/main">
              <a:ext uri="{FF2B5EF4-FFF2-40B4-BE49-F238E27FC236}">
                <a16:creationId xmlns:a16="http://schemas.microsoft.com/office/drawing/2014/main" id="{74013B53-EF98-450C-A0E8-9D296759221C}"/>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Lisez les pages de cours et réalisez les exercices dans Moodle.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Référence principale : https://www.cdc.gov/field-epi-manual/php/chapters/analyze-interpret-data.html</a:t>
            </a:r>
          </a:p>
        </p:txBody>
      </p:sp>
      <p:sp>
        <p:nvSpPr>
          <p:cNvPr id="3" name="">
            <a:extLst xmlns:a="http://schemas.openxmlformats.org/drawingml/2006/main">
              <a:ext uri="{FF2B5EF4-FFF2-40B4-BE49-F238E27FC236}">
                <a16:creationId xmlns:a16="http://schemas.microsoft.com/office/drawing/2014/main" id="{66181A6B-08D6-4828-845B-1A715F1C2EB6}"/>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NaN</a:t>
            </a:r>
          </a:p>
        </p:txBody>
      </p:sp>
    </p:spTree>
    <p:extLst>
      <p:ext uri="{BB962C8B-B14F-4D97-AF65-F5344CB8AC3E}">
        <p14:creationId xmlns:p14="http://schemas.microsoft.com/office/powerpoint/2010/main" val="1574166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2026-09-29T15:13:23.8770000Z</dcterms:created>
  <dcterms:modified xsi:type="dcterms:W3CDTF">2026-09-29T15:13:23.8770000Z</dcterms:modified>
</coreProperties>
</file>