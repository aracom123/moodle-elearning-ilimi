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a2ce1a8cff43de" /><Relationship Type="http://schemas.openxmlformats.org/officeDocument/2006/relationships/extended-properties" Target="/docProps/app.xml" Id="R9992922ea61747e8" /><Relationship Type="http://schemas.openxmlformats.org/officeDocument/2006/relationships/officeDocument" Target="/ppt/presentation.xml" Id="Rde3e0a2652c24c81" /></Relationships>
</file>

<file path=ppt/presentation.xml><?xml version="1.0" encoding="utf-8"?>
<p:presentation xmlns:p="http://schemas.openxmlformats.org/presentationml/2006/main">
  <p:sldMasterIdLst>
    <p:sldMasterId xmlns:r="http://schemas.openxmlformats.org/officeDocument/2006/relationships" id="2147483648" r:id="R11fc6a12ab1f4683"/>
  </p:sldMasterIdLst>
  <p:notesMasterIdLst>
    <p:notesMasterId xmlns:r="http://schemas.openxmlformats.org/officeDocument/2006/relationships" r:id="Rce9ed4c04dd74acc"/>
  </p:notesMasterIdLst>
  <p:sldIdLst>
    <p:sldId xmlns:r="http://schemas.openxmlformats.org/officeDocument/2006/relationships" id="256" r:id="Rcea4f825f108481c"/>
    <p:sldId xmlns:r="http://schemas.openxmlformats.org/officeDocument/2006/relationships" id="257" r:id="R96655cc4f7a14878"/>
    <p:sldId xmlns:r="http://schemas.openxmlformats.org/officeDocument/2006/relationships" id="258" r:id="R654b99250a6e4b19"/>
    <p:sldId xmlns:r="http://schemas.openxmlformats.org/officeDocument/2006/relationships" id="259" r:id="Rf9655f4c08d0465c"/>
    <p:sldId xmlns:r="http://schemas.openxmlformats.org/officeDocument/2006/relationships" id="260" r:id="R1f473a34492845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c83ac72c274719" /><Relationship Type="http://schemas.openxmlformats.org/officeDocument/2006/relationships/slideMaster" Target="/ppt/slideMasters/slideMaster1.xml" Id="R11fc6a12ab1f4683" /><Relationship Type="http://schemas.openxmlformats.org/officeDocument/2006/relationships/notesMaster" Target="/ppt/notesMasters/notesMaster1.xml" Id="Rce9ed4c04dd74acc" /><Relationship Type="http://schemas.openxmlformats.org/officeDocument/2006/relationships/presProps" Target="/ppt/presProps.xml" Id="R3841779596574270" /><Relationship Type="http://schemas.openxmlformats.org/officeDocument/2006/relationships/tableStyles" Target="/ppt/tableStyles.xml" Id="R7d902db8a1a444ea" /><Relationship Type="http://schemas.openxmlformats.org/officeDocument/2006/relationships/slide" Target="/ppt/slides/slide1.xml" Id="Rcea4f825f108481c" /><Relationship Type="http://schemas.openxmlformats.org/officeDocument/2006/relationships/slide" Target="/ppt/slides/slide2.xml" Id="R96655cc4f7a14878" /><Relationship Type="http://schemas.openxmlformats.org/officeDocument/2006/relationships/slide" Target="/ppt/slides/slide3.xml" Id="R654b99250a6e4b19" /><Relationship Type="http://schemas.openxmlformats.org/officeDocument/2006/relationships/slide" Target="/ppt/slides/slide4.xml" Id="Rf9655f4c08d0465c" /><Relationship Type="http://schemas.openxmlformats.org/officeDocument/2006/relationships/slide" Target="/ppt/slides/slide5.xml" Id="R1f473a34492845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f100fc3fc74c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19bb6c12b54290" /><Relationship Type="http://schemas.openxmlformats.org/officeDocument/2006/relationships/notesMaster" Target="/ppt/notesMasters/notesMaster1.xml" Id="R1c1b7d1f195049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35fd73d6924785" /><Relationship Type="http://schemas.openxmlformats.org/officeDocument/2006/relationships/notesMaster" Target="/ppt/notesMasters/notesMaster1.xml" Id="Rd7aa6abb42bd46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1885cb87154b43" /><Relationship Type="http://schemas.openxmlformats.org/officeDocument/2006/relationships/notesMaster" Target="/ppt/notesMasters/notesMaster1.xml" Id="Rb09e6099f23d43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e11dc4cde64772" /><Relationship Type="http://schemas.openxmlformats.org/officeDocument/2006/relationships/notesMaster" Target="/ppt/notesMasters/notesMaster1.xml" Id="Rab00e37f01f148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aa8823b683404c" /><Relationship Type="http://schemas.openxmlformats.org/officeDocument/2006/relationships/notesMaster" Target="/ppt/notesMasters/notesMaster1.xml" Id="R04a692d14a704d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https://www.who.int/publications/m/item/community-engagement-for-quality--people-centred-health-services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https://www.who.int/publications/m/item/community-engagement-for-quality--people-centred-health-services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https://www.cdc.gov/field-epi-manual/php/chapters/collecting-data.html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https://www.cdc.gov/field-epi-manual/php/chapters/describing-epi-data.html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https://www.who.int/publications/m/item/community-engagement-for-quality--people-centred-health-services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533637e25c42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760236b7824548" /><Relationship Type="http://schemas.openxmlformats.org/officeDocument/2006/relationships/slideLayout" Target="/ppt/slideLayouts/slideLayout1.xml" Id="Rb4448c976a1f41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48c976a1f41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0110deae194374" /><Relationship Type="http://schemas.openxmlformats.org/officeDocument/2006/relationships/notesSlide" Target="/ppt/notesSlides/notesSlide1.xml" Id="R37a92529ddfd4a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497c009bb14d76" /><Relationship Type="http://schemas.openxmlformats.org/officeDocument/2006/relationships/notesSlide" Target="/ppt/notesSlides/notesSlide2.xml" Id="Rd1f0910105e84d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9ac9cad0f4454e" /><Relationship Type="http://schemas.openxmlformats.org/officeDocument/2006/relationships/notesSlide" Target="/ppt/notesSlides/notesSlide3.xml" Id="R2b2a3718c0fa48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42d4aba7fa41b4" /><Relationship Type="http://schemas.openxmlformats.org/officeDocument/2006/relationships/notesSlide" Target="/ppt/notesSlides/notesSlide4.xml" Id="Rff6b03de908842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b1ef61b465423b" /><Relationship Type="http://schemas.openxmlformats.org/officeDocument/2006/relationships/notesSlide" Target="/ppt/notesSlides/notesSlide5.xml" Id="R168f0b191853426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0E153A2-3DFA-4B90-B4DA-28EA83856B03}"/>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Diagnostic communautaire</a:t>
            </a:r>
          </a:p>
        </p:txBody>
      </p:sp>
      <p:sp>
        <p:nvSpPr>
          <p:cNvPr id="2" name="">
            <a:extLst xmlns:a="http://schemas.openxmlformats.org/drawingml/2006/main">
              <a:ext uri="{FF2B5EF4-FFF2-40B4-BE49-F238E27FC236}">
                <a16:creationId xmlns:a16="http://schemas.microsoft.com/office/drawing/2014/main" id="{B11E27D2-CA90-4259-8081-43905FF65BCB}"/>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DIAG · Support pédagogique de synthèse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Objectif : relier les notions du cours à une situation de santé publique.</a:t>
            </a:r>
          </a:p>
        </p:txBody>
      </p:sp>
      <p:sp>
        <p:nvSpPr>
          <p:cNvPr id="3" name="">
            <a:extLst xmlns:a="http://schemas.openxmlformats.org/drawingml/2006/main">
              <a:ext uri="{FF2B5EF4-FFF2-40B4-BE49-F238E27FC236}">
                <a16:creationId xmlns:a16="http://schemas.microsoft.com/office/drawing/2014/main" id="{439A32E9-85B5-4262-8808-8FA16A584A19}"/>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1</a:t>
            </a:r>
          </a:p>
        </p:txBody>
      </p:sp>
    </p:spTree>
    <p:extLst>
      <p:ext uri="{BB962C8B-B14F-4D97-AF65-F5344CB8AC3E}">
        <p14:creationId xmlns:p14="http://schemas.microsoft.com/office/powerpoint/2010/main" val="421338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D8E46BC-6F13-404F-88B1-E3708323C40A}"/>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Notions essentielles</a:t>
            </a:r>
          </a:p>
        </p:txBody>
      </p:sp>
      <p:sp>
        <p:nvSpPr>
          <p:cNvPr id="2" name="">
            <a:extLst xmlns:a="http://schemas.openxmlformats.org/drawingml/2006/main">
              <a:ext uri="{FF2B5EF4-FFF2-40B4-BE49-F238E27FC236}">
                <a16:creationId xmlns:a16="http://schemas.microsoft.com/office/drawing/2014/main" id="{5CF023AF-DC1F-4E18-83BE-7FBFAEA1111B}"/>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Définissez la question du diagnostic, diversifiez les sources, écoutez les groupes moins visibles, puis restituez les résultats avec leurs limites.</a:t>
            </a:r>
          </a:p>
        </p:txBody>
      </p:sp>
      <p:sp>
        <p:nvSpPr>
          <p:cNvPr id="3" name="">
            <a:extLst xmlns:a="http://schemas.openxmlformats.org/drawingml/2006/main">
              <a:ext uri="{FF2B5EF4-FFF2-40B4-BE49-F238E27FC236}">
                <a16:creationId xmlns:a16="http://schemas.microsoft.com/office/drawing/2014/main" id="{1F4EB5B2-1CFE-4009-8020-749F0454DB2A}"/>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2</a:t>
            </a:r>
          </a:p>
        </p:txBody>
      </p:sp>
    </p:spTree>
    <p:extLst>
      <p:ext uri="{BB962C8B-B14F-4D97-AF65-F5344CB8AC3E}">
        <p14:creationId xmlns:p14="http://schemas.microsoft.com/office/powerpoint/2010/main" val="6165616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4F43C49-28A2-486F-A4B1-FA0AB4F04D1A}"/>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Collecter les données d'un diagnostic communautaire</a:t>
            </a:r>
          </a:p>
        </p:txBody>
      </p:sp>
      <p:sp>
        <p:nvSpPr>
          <p:cNvPr id="2" name="">
            <a:extLst xmlns:a="http://schemas.openxmlformats.org/drawingml/2006/main">
              <a:ext uri="{FF2B5EF4-FFF2-40B4-BE49-F238E27FC236}">
                <a16:creationId xmlns:a16="http://schemas.microsoft.com/office/drawing/2014/main" id="{3E738353-9718-4AB1-80F2-93726DD4E141}"/>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4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Commencez par une question claire, par exemple quels obstacles empêchent l'utilisation d'un service. Combinez les données disponibles des services avec des observations et entretiens conduits de manière respectueuse. Définissez à l'avance qui sera consulté pour éviter de n'entendre que les personnes les plus visibles. Notez la date, le lieu, la méthode et les limites de chaque source. Informez les participants de l'usage des données et évitez les noms dans les notes de synthèse. Trianguler les sources ne signifie pas qu'elles doivent toutes donner la même réponse; les divergences sont à examiner.</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Construisez une grille de collecte pour l'accès à la vaccination: deux indicateurs de service, deux questions d'entretien et une précaution de confidentialité.</a:t>
            </a:r>
          </a:p>
        </p:txBody>
      </p:sp>
      <p:sp>
        <p:nvSpPr>
          <p:cNvPr id="3" name="">
            <a:extLst xmlns:a="http://schemas.openxmlformats.org/drawingml/2006/main">
              <a:ext uri="{FF2B5EF4-FFF2-40B4-BE49-F238E27FC236}">
                <a16:creationId xmlns:a16="http://schemas.microsoft.com/office/drawing/2014/main" id="{B2E29E59-14C1-4CB2-AD27-033C2E658322}"/>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3</a:t>
            </a:r>
          </a:p>
        </p:txBody>
      </p:sp>
    </p:spTree>
    <p:extLst>
      <p:ext uri="{BB962C8B-B14F-4D97-AF65-F5344CB8AC3E}">
        <p14:creationId xmlns:p14="http://schemas.microsoft.com/office/powerpoint/2010/main" val="18401301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6AC7717-71EF-473C-8ACD-45023ED00148}"/>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Analyser et prioriser les problèmes de santé</a:t>
            </a:r>
          </a:p>
        </p:txBody>
      </p:sp>
      <p:sp>
        <p:nvSpPr>
          <p:cNvPr id="2" name="">
            <a:extLst xmlns:a="http://schemas.openxmlformats.org/drawingml/2006/main">
              <a:ext uri="{FF2B5EF4-FFF2-40B4-BE49-F238E27FC236}">
                <a16:creationId xmlns:a16="http://schemas.microsoft.com/office/drawing/2014/main" id="{E6A88ADF-A64A-4823-B551-EE2FBC29D35E}"/>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609"/>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Présentez les observations selon personnes, lieux et périodes. Quand un pourcentage est calculé, indiquez numérateur et dénominateur. Une carte ou un tableau peut montrer des écarts, mais de petits effectifs exigent de la prudence. Discutez les priorités avec la communauté en distinguant ampleur, gravité, possibilité d'action et préoccupations exprimées. Rendez visibles les désaccords et les données manquantes. Le choix final doit être justifié et révisable, non présenté comme une vérité statistique absolue.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À appliquer : Trois quartiers signalent un problème d'eau. Proposez quatre critères de priorité, puis expliquez comment éviter qu'un quartier mieux représenté dans les réunions l'emporte automatiquement.</a:t>
            </a:r>
          </a:p>
        </p:txBody>
      </p:sp>
      <p:sp>
        <p:nvSpPr>
          <p:cNvPr id="3" name="">
            <a:extLst xmlns:a="http://schemas.openxmlformats.org/drawingml/2006/main">
              <a:ext uri="{FF2B5EF4-FFF2-40B4-BE49-F238E27FC236}">
                <a16:creationId xmlns:a16="http://schemas.microsoft.com/office/drawing/2014/main" id="{410D2894-E23B-4697-9985-005831A91FD6}"/>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4</a:t>
            </a:r>
          </a:p>
        </p:txBody>
      </p:sp>
    </p:spTree>
    <p:extLst>
      <p:ext uri="{BB962C8B-B14F-4D97-AF65-F5344CB8AC3E}">
        <p14:creationId xmlns:p14="http://schemas.microsoft.com/office/powerpoint/2010/main" val="21395761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675815-9DE2-4C33-B588-CD4E39D003C1}"/>
              </a:ext>
            </a:extLst>
          </p:cNvPr>
          <p:cNvSpPr>
            <a:spLocks xmlns:a="http://schemas.openxmlformats.org/drawingml/2006/main" noGrp="1"/>
          </p:cNvSpPr>
          <p:nvPr/>
        </p:nvSpPr>
        <p:spPr>
          <a:xfrm xmlns:a="http://schemas.openxmlformats.org/drawingml/2006/main">
            <a:off x="685800" y="5905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05489"/>
                </a:solidFill>
                <a:latin typeface="Arial"/>
                <a:ea typeface="Arial"/>
                <a:cs typeface="Arial"/>
              </a:defRPr>
            </a:pPr>
            <a:r>
              <a:rPr sz="3000" b="1">
                <a:solidFill>
                  <a:srgbClr val="005489"/>
                </a:solidFill>
                <a:latin typeface="Arial"/>
                <a:ea typeface="Arial"/>
                <a:cs typeface="Arial"/>
              </a:rPr>
              <a:t>Pour poursuivre</a:t>
            </a:r>
          </a:p>
        </p:txBody>
      </p:sp>
      <p:sp>
        <p:nvSpPr>
          <p:cNvPr id="2" name="">
            <a:extLst xmlns:a="http://schemas.openxmlformats.org/drawingml/2006/main">
              <a:ext uri="{FF2B5EF4-FFF2-40B4-BE49-F238E27FC236}">
                <a16:creationId xmlns:a16="http://schemas.microsoft.com/office/drawing/2014/main" id="{25CC92C8-16C3-42EF-B3C1-2FD7DE921F1D}"/>
              </a:ext>
            </a:extLst>
          </p:cNvPr>
          <p:cNvSpPr>
            <a:spLocks xmlns:a="http://schemas.openxmlformats.org/drawingml/2006/main" noGrp="1"/>
          </p:cNvSpPr>
          <p:nvPr/>
        </p:nvSpPr>
        <p:spPr>
          <a:xfrm xmlns:a="http://schemas.openxmlformats.org/drawingml/2006/main">
            <a:off x="742950" y="2047875"/>
            <a:ext cx="10572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Lisez les pages de cours et réalisez les exercices dans Moodle.</a:t>
            </a:r>
          </a:p>
          <a:p xmlns:a="http://schemas.openxmlformats.org/drawingml/2006/main">
            <a:r>
              <a:t/>
            </a:r>
          </a:p>
          <a:p xmlns:a="http://schemas.openxmlformats.org/drawingml/2006/main">
            <a:pPr>
              <a:defRPr sz="2175" b="0">
                <a:solidFill>
                  <a:srgbClr val="253746"/>
                </a:solidFill>
                <a:latin typeface="Arial"/>
                <a:ea typeface="Arial"/>
                <a:cs typeface="Arial"/>
              </a:defRPr>
            </a:pPr>
            <a:r>
              <a:rPr sz="2175" b="0">
                <a:solidFill>
                  <a:srgbClr val="253746"/>
                </a:solidFill>
                <a:latin typeface="Arial"/>
                <a:ea typeface="Arial"/>
                <a:cs typeface="Arial"/>
              </a:rPr>
              <a:t>Référence principale : https://www.who.int/publications/m/item/community-engagement-for-quality--people-centred-health-services</a:t>
            </a:r>
          </a:p>
        </p:txBody>
      </p:sp>
      <p:sp>
        <p:nvSpPr>
          <p:cNvPr id="3" name="">
            <a:extLst xmlns:a="http://schemas.openxmlformats.org/drawingml/2006/main">
              <a:ext uri="{FF2B5EF4-FFF2-40B4-BE49-F238E27FC236}">
                <a16:creationId xmlns:a16="http://schemas.microsoft.com/office/drawing/2014/main" id="{67D650A4-7A63-4B85-88A9-0D100ACFF042}"/>
              </a:ext>
            </a:extLst>
          </p:cNvPr>
          <p:cNvSpPr>
            <a:spLocks xmlns:a="http://schemas.openxmlformats.org/drawingml/2006/main" noGrp="1"/>
          </p:cNvSpPr>
          <p:nvPr/>
        </p:nvSpPr>
        <p:spPr>
          <a:xfrm xmlns:a="http://schemas.openxmlformats.org/drawingml/2006/main">
            <a:off x="742950" y="6191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00" b="0">
                <a:solidFill>
                  <a:srgbClr val="6E3A41"/>
                </a:solidFill>
                <a:latin typeface="Arial"/>
                <a:ea typeface="Arial"/>
                <a:cs typeface="Arial"/>
              </a:defRPr>
            </a:pPr>
            <a:r>
              <a:rPr sz="1200" b="0">
                <a:solidFill>
                  <a:srgbClr val="6E3A41"/>
                </a:solidFill>
                <a:latin typeface="Arial"/>
                <a:ea typeface="Arial"/>
                <a:cs typeface="Arial"/>
              </a:rPr>
              <a:t>ISP · NaN</a:t>
            </a:r>
          </a:p>
        </p:txBody>
      </p:sp>
    </p:spTree>
    <p:extLst>
      <p:ext uri="{BB962C8B-B14F-4D97-AF65-F5344CB8AC3E}">
        <p14:creationId xmlns:p14="http://schemas.microsoft.com/office/powerpoint/2010/main" val="2083555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2026-09-29T15:13:24.9380000Z</dcterms:created>
  <dcterms:modified xsi:type="dcterms:W3CDTF">2026-09-29T15:13:24.9380000Z</dcterms:modified>
</coreProperties>
</file>