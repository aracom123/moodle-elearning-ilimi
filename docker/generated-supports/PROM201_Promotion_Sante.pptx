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6450949fd84a3a" /><Relationship Type="http://schemas.openxmlformats.org/officeDocument/2006/relationships/extended-properties" Target="/docProps/app.xml" Id="Ra3d37dd161df43ae" /><Relationship Type="http://schemas.openxmlformats.org/officeDocument/2006/relationships/officeDocument" Target="/ppt/presentation.xml" Id="R7b68286b22474b97" /></Relationships>
</file>

<file path=ppt/presentation.xml><?xml version="1.0" encoding="utf-8"?>
<p:presentation xmlns:p="http://schemas.openxmlformats.org/presentationml/2006/main">
  <p:sldMasterIdLst>
    <p:sldMasterId xmlns:r="http://schemas.openxmlformats.org/officeDocument/2006/relationships" id="2147483648" r:id="Re8793b44598449e8"/>
  </p:sldMasterIdLst>
  <p:notesMasterIdLst>
    <p:notesMasterId xmlns:r="http://schemas.openxmlformats.org/officeDocument/2006/relationships" r:id="Rd14227c484164d3f"/>
  </p:notesMasterIdLst>
  <p:sldIdLst>
    <p:sldId xmlns:r="http://schemas.openxmlformats.org/officeDocument/2006/relationships" id="256" r:id="R584d752ac9d24e58"/>
    <p:sldId xmlns:r="http://schemas.openxmlformats.org/officeDocument/2006/relationships" id="257" r:id="R128805d6173748c6"/>
    <p:sldId xmlns:r="http://schemas.openxmlformats.org/officeDocument/2006/relationships" id="258" r:id="Rc128777598c34405"/>
    <p:sldId xmlns:r="http://schemas.openxmlformats.org/officeDocument/2006/relationships" id="259" r:id="R8fa23619e7bc4cb7"/>
    <p:sldId xmlns:r="http://schemas.openxmlformats.org/officeDocument/2006/relationships" id="260" r:id="Rcd0ebd0bc9334c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a4fc7ee2874192" /><Relationship Type="http://schemas.openxmlformats.org/officeDocument/2006/relationships/slideMaster" Target="/ppt/slideMasters/slideMaster1.xml" Id="Re8793b44598449e8" /><Relationship Type="http://schemas.openxmlformats.org/officeDocument/2006/relationships/notesMaster" Target="/ppt/notesMasters/notesMaster1.xml" Id="Rd14227c484164d3f" /><Relationship Type="http://schemas.openxmlformats.org/officeDocument/2006/relationships/presProps" Target="/ppt/presProps.xml" Id="R5dae4dbfbcc241a3" /><Relationship Type="http://schemas.openxmlformats.org/officeDocument/2006/relationships/tableStyles" Target="/ppt/tableStyles.xml" Id="R995fa96a001845da" /><Relationship Type="http://schemas.openxmlformats.org/officeDocument/2006/relationships/slide" Target="/ppt/slides/slide1.xml" Id="R584d752ac9d24e58" /><Relationship Type="http://schemas.openxmlformats.org/officeDocument/2006/relationships/slide" Target="/ppt/slides/slide2.xml" Id="R128805d6173748c6" /><Relationship Type="http://schemas.openxmlformats.org/officeDocument/2006/relationships/slide" Target="/ppt/slides/slide3.xml" Id="Rc128777598c34405" /><Relationship Type="http://schemas.openxmlformats.org/officeDocument/2006/relationships/slide" Target="/ppt/slides/slide4.xml" Id="R8fa23619e7bc4cb7" /><Relationship Type="http://schemas.openxmlformats.org/officeDocument/2006/relationships/slide" Target="/ppt/slides/slide5.xml" Id="Rcd0ebd0bc9334c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9792378d4c47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aa10a1cbe4484c" /><Relationship Type="http://schemas.openxmlformats.org/officeDocument/2006/relationships/notesMaster" Target="/ppt/notesMasters/notesMaster1.xml" Id="Ra159dbfce8ff49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46cddcf9d047e6" /><Relationship Type="http://schemas.openxmlformats.org/officeDocument/2006/relationships/notesMaster" Target="/ppt/notesMasters/notesMaster1.xml" Id="Rbeb4d0af5e064f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a5c5667eaf4fb5" /><Relationship Type="http://schemas.openxmlformats.org/officeDocument/2006/relationships/notesMaster" Target="/ppt/notesMasters/notesMaster1.xml" Id="Rcfb2e247dd6f4a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41a32263ca4c3c" /><Relationship Type="http://schemas.openxmlformats.org/officeDocument/2006/relationships/notesMaster" Target="/ppt/notesMasters/notesMaster1.xml" Id="R93d53566ccd642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2a4947a96c434f" /><Relationship Type="http://schemas.openxmlformats.org/officeDocument/2006/relationships/notesMaster" Target="/ppt/notesMasters/notesMaster1.xml" Id="Re7bc6cb2b7d74a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https://www.who.int/publications/i/item/ottawa-charter-for-health-promotion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https://www.who.int/publications/i/item/ottawa-charter-for-health-promotion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https://www.who.int/publications/i/item/ottawa-charter-for-health-promotion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https://www.who.int/publications/i/item/ottawa-charter-for-health-promotion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https://www.who.int/publications/i/item/ottawa-charter-for-health-promotion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edbe73f5e04e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fb1eb7783b45c5" /><Relationship Type="http://schemas.openxmlformats.org/officeDocument/2006/relationships/slideLayout" Target="/ppt/slideLayouts/slideLayout1.xml" Id="Ra095960443a549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95960443a549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bd2d80baca4a8a" /><Relationship Type="http://schemas.openxmlformats.org/officeDocument/2006/relationships/notesSlide" Target="/ppt/notesSlides/notesSlide1.xml" Id="R5fa661bebb684d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0d949656be46bc" /><Relationship Type="http://schemas.openxmlformats.org/officeDocument/2006/relationships/notesSlide" Target="/ppt/notesSlides/notesSlide2.xml" Id="R8d439f769a2d48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c5b1ae8e144753" /><Relationship Type="http://schemas.openxmlformats.org/officeDocument/2006/relationships/notesSlide" Target="/ppt/notesSlides/notesSlide3.xml" Id="R8ef8ffaf66af46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0d0b1b011a469b" /><Relationship Type="http://schemas.openxmlformats.org/officeDocument/2006/relationships/notesSlide" Target="/ppt/notesSlides/notesSlide4.xml" Id="R82b329a2add94f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a4e88ef0cd4cfd" /><Relationship Type="http://schemas.openxmlformats.org/officeDocument/2006/relationships/notesSlide" Target="/ppt/notesSlides/notesSlide5.xml" Id="Ra4e7ba24738244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D715FB2-84A2-42BD-9DD6-E56DFC66369E}"/>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Stratégies de promotion de la santé</a:t>
            </a:r>
          </a:p>
        </p:txBody>
      </p:sp>
      <p:sp>
        <p:nvSpPr>
          <p:cNvPr id="2" name="">
            <a:extLst xmlns:a="http://schemas.openxmlformats.org/drawingml/2006/main">
              <a:ext uri="{FF2B5EF4-FFF2-40B4-BE49-F238E27FC236}">
                <a16:creationId xmlns:a16="http://schemas.microsoft.com/office/drawing/2014/main" id="{C81D7A9F-5257-4E8B-8E39-10CF84CFA0DB}"/>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PROM201 · Support pédagogique de synthèse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Objectif : relier les notions du cours à une situation de santé publique.</a:t>
            </a:r>
          </a:p>
        </p:txBody>
      </p:sp>
      <p:sp>
        <p:nvSpPr>
          <p:cNvPr id="3" name="">
            <a:extLst xmlns:a="http://schemas.openxmlformats.org/drawingml/2006/main">
              <a:ext uri="{FF2B5EF4-FFF2-40B4-BE49-F238E27FC236}">
                <a16:creationId xmlns:a16="http://schemas.microsoft.com/office/drawing/2014/main" id="{D34F9B2D-FAEB-4B14-90BC-D671DE9E0D3C}"/>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1</a:t>
            </a:r>
          </a:p>
        </p:txBody>
      </p:sp>
    </p:spTree>
    <p:extLst>
      <p:ext uri="{BB962C8B-B14F-4D97-AF65-F5344CB8AC3E}">
        <p14:creationId xmlns:p14="http://schemas.microsoft.com/office/powerpoint/2010/main" val="8605788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8B0E10F-691F-4CA5-8FFB-8A5EF92CC0CC}"/>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Notions essentielles</a:t>
            </a:r>
          </a:p>
        </p:txBody>
      </p:sp>
      <p:sp>
        <p:nvSpPr>
          <p:cNvPr id="2" name="">
            <a:extLst xmlns:a="http://schemas.openxmlformats.org/drawingml/2006/main">
              <a:ext uri="{FF2B5EF4-FFF2-40B4-BE49-F238E27FC236}">
                <a16:creationId xmlns:a16="http://schemas.microsoft.com/office/drawing/2014/main" id="{0BD0A898-91BD-45FC-86F7-A8C2ADB8AC3E}"/>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La Charte d’Ottawa décrit cinq axes : politiques publiques, milieux favorables, action communautaire, aptitudes individuelles et réorientation des services de santé.</a:t>
            </a:r>
          </a:p>
        </p:txBody>
      </p:sp>
      <p:sp>
        <p:nvSpPr>
          <p:cNvPr id="3" name="">
            <a:extLst xmlns:a="http://schemas.openxmlformats.org/drawingml/2006/main">
              <a:ext uri="{FF2B5EF4-FFF2-40B4-BE49-F238E27FC236}">
                <a16:creationId xmlns:a16="http://schemas.microsoft.com/office/drawing/2014/main" id="{620D004D-7830-4570-B3D7-B65C14D8F156}"/>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2</a:t>
            </a:r>
          </a:p>
        </p:txBody>
      </p:sp>
    </p:spTree>
    <p:extLst>
      <p:ext uri="{BB962C8B-B14F-4D97-AF65-F5344CB8AC3E}">
        <p14:creationId xmlns:p14="http://schemas.microsoft.com/office/powerpoint/2010/main" val="13757329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4159DA3-3D0A-4706-B957-6FC199987978}"/>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Planifier un programme de promotion de la santé</a:t>
            </a:r>
          </a:p>
        </p:txBody>
      </p:sp>
      <p:sp>
        <p:nvSpPr>
          <p:cNvPr id="2" name="">
            <a:extLst xmlns:a="http://schemas.openxmlformats.org/drawingml/2006/main">
              <a:ext uri="{FF2B5EF4-FFF2-40B4-BE49-F238E27FC236}">
                <a16:creationId xmlns:a16="http://schemas.microsoft.com/office/drawing/2014/main" id="{D667C03C-33CC-4BE3-BC4A-EB3B50EFE791}"/>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016"/>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La promotion de la santé vise à renforcer les moyens d'agir sur la santé et ses déterminants. Définissez un problème à partir de données locales et de la parole des personnes concernées. Choisissez un public précis sans lui attribuer la responsabilité exclusive du problème. Reliez chaque activité à un objectif et à au moins un axe de la Charte d'Ottawa: politique, milieu favorable, action communautaire, aptitudes individuelles ou réorientation des services. Prévoyez ressources, responsabilités, calendrier et mesure initiale. Une campagne d'information seule ne modifie pas nécessairement les obstacles matériels.</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Pour améliorer l'activité physique dans un quartier, proposez une action sur le milieu de vie et une activité d'information. Pour chacune, écrivez un objectif et un indicateur.</a:t>
            </a:r>
          </a:p>
        </p:txBody>
      </p:sp>
      <p:sp>
        <p:nvSpPr>
          <p:cNvPr id="3" name="">
            <a:extLst xmlns:a="http://schemas.openxmlformats.org/drawingml/2006/main">
              <a:ext uri="{FF2B5EF4-FFF2-40B4-BE49-F238E27FC236}">
                <a16:creationId xmlns:a16="http://schemas.microsoft.com/office/drawing/2014/main" id="{736AEE42-9495-47A5-AFE0-A0C37E64706A}"/>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3</a:t>
            </a:r>
          </a:p>
        </p:txBody>
      </p:sp>
    </p:spTree>
    <p:extLst>
      <p:ext uri="{BB962C8B-B14F-4D97-AF65-F5344CB8AC3E}">
        <p14:creationId xmlns:p14="http://schemas.microsoft.com/office/powerpoint/2010/main" val="3004643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B748D6B-27CE-4D3D-9686-D3254D3A14D7}"/>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Évaluer et améliorer une intervention de promotion</a:t>
            </a:r>
          </a:p>
        </p:txBody>
      </p:sp>
      <p:sp>
        <p:nvSpPr>
          <p:cNvPr id="2" name="">
            <a:extLst xmlns:a="http://schemas.openxmlformats.org/drawingml/2006/main">
              <a:ext uri="{FF2B5EF4-FFF2-40B4-BE49-F238E27FC236}">
                <a16:creationId xmlns:a16="http://schemas.microsoft.com/office/drawing/2014/main" id="{582F1E5E-8C0B-4B0B-B73B-5AD842755172}"/>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3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Une évaluation de processus vérifie si les activités prévues ont eu lieu, qui elles ont atteint et quels obstacles sont apparus. Une évaluation de résultat examine le changement visé, sans l'attribuer automatiquement à l'action. Collectez une mesure initiale lorsque possible, utilisez les mêmes définitions au suivi et considérez les groupes moins rejoints. Les retours qualitatifs expliquent pourquoi une activité a fonctionné ou non. Présentez aussi les limites: absence de groupe comparable, faible participation, saisonnalité ou changement de contexte. Utilisez ces constats pour ajuster le programme avec les personnes concernées.</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Une intervention a tenu 8 ateliers prévus, mais seulement un tiers du public cible y a participé. Qu'a-t-on appris sur la mise en œuvre et quelle information manque pour juger les résultats ?</a:t>
            </a:r>
          </a:p>
        </p:txBody>
      </p:sp>
      <p:sp>
        <p:nvSpPr>
          <p:cNvPr id="3" name="">
            <a:extLst xmlns:a="http://schemas.openxmlformats.org/drawingml/2006/main">
              <a:ext uri="{FF2B5EF4-FFF2-40B4-BE49-F238E27FC236}">
                <a16:creationId xmlns:a16="http://schemas.microsoft.com/office/drawing/2014/main" id="{A55BCC41-3D5A-47EB-B688-1F19C31306A5}"/>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4</a:t>
            </a:r>
          </a:p>
        </p:txBody>
      </p:sp>
    </p:spTree>
    <p:extLst>
      <p:ext uri="{BB962C8B-B14F-4D97-AF65-F5344CB8AC3E}">
        <p14:creationId xmlns:p14="http://schemas.microsoft.com/office/powerpoint/2010/main" val="19339743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A9BFE0-320D-436D-A962-B9047EFCDE8E}"/>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Pour poursuivre</a:t>
            </a:r>
          </a:p>
        </p:txBody>
      </p:sp>
      <p:sp>
        <p:nvSpPr>
          <p:cNvPr id="2" name="">
            <a:extLst xmlns:a="http://schemas.openxmlformats.org/drawingml/2006/main">
              <a:ext uri="{FF2B5EF4-FFF2-40B4-BE49-F238E27FC236}">
                <a16:creationId xmlns:a16="http://schemas.microsoft.com/office/drawing/2014/main" id="{81975991-C077-4532-A8B5-275F4A5EF8B4}"/>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Lisez les pages de cours et réalisez les exercices dans Moodle.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Référence principale : https://www.who.int/publications/i/item/ottawa-charter-for-health-promotion</a:t>
            </a:r>
          </a:p>
        </p:txBody>
      </p:sp>
      <p:sp>
        <p:nvSpPr>
          <p:cNvPr id="3" name="">
            <a:extLst xmlns:a="http://schemas.openxmlformats.org/drawingml/2006/main">
              <a:ext uri="{FF2B5EF4-FFF2-40B4-BE49-F238E27FC236}">
                <a16:creationId xmlns:a16="http://schemas.microsoft.com/office/drawing/2014/main" id="{F5F37CB3-C4F1-40C8-96C8-1AC8E26B1FDE}"/>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NaN</a:t>
            </a:r>
          </a:p>
        </p:txBody>
      </p:sp>
    </p:spTree>
    <p:extLst>
      <p:ext uri="{BB962C8B-B14F-4D97-AF65-F5344CB8AC3E}">
        <p14:creationId xmlns:p14="http://schemas.microsoft.com/office/powerpoint/2010/main" val="1327091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2026-09-29T15:13:24.6690000Z</dcterms:created>
  <dcterms:modified xsi:type="dcterms:W3CDTF">2026-09-29T15:13:24.6690000Z</dcterms:modified>
</coreProperties>
</file>